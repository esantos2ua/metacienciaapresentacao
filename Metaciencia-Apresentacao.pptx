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F38"/>
          </a:solidFill>
          <a:ln w="12700">
            <a:solidFill>
              <a:srgbClr val="0A1F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METACIÊNCIAS  |  REDE BRASILEIRA DE REPRODUTIBILIDADE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Metaciência: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A8C4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Ciência que Estuda a Ciência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“Ciência que não se examina não pode se corrigir.”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8138160" cy="914400"/>
          </a:xfrm>
          <a:prstGeom prst="rect">
            <a:avLst/>
          </a:prstGeom>
          <a:solidFill>
            <a:srgbClr val="162E4A"/>
          </a:solidFill>
          <a:ln w="12700">
            <a:solidFill>
              <a:srgbClr val="1C5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127248"/>
            <a:ext cx="7772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desta palestra, você saberá diagnosticar onde a ciência falha sistematicamente e terá ferramentas conceituais para contribuir com sua correção — inclusive no Brasil.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Ioannidis et al. 2015 (PLOS Biology)  |  Rede Brasileira de Reprodutibilidade,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F38"/>
          </a:solidFill>
          <a:ln w="12700">
            <a:solidFill>
              <a:srgbClr val="0A1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64008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isso importa?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crise de reprodutibilidade não é anomalia — é dado.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3703320"/>
          </a:xfrm>
          <a:prstGeom prst="rect">
            <a:avLst/>
          </a:prstGeom>
          <a:solidFill>
            <a:srgbClr val="162E4A"/>
          </a:solidFill>
          <a:ln w="25400">
            <a:solidFill>
              <a:srgbClr val="3A85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43200" cy="64008"/>
          </a:xfrm>
          <a:prstGeom prst="rect">
            <a:avLst/>
          </a:prstGeom>
          <a:solidFill>
            <a:srgbClr val="3A85C2"/>
          </a:solidFill>
          <a:ln w="12700">
            <a:solidFill>
              <a:srgbClr val="3A85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A85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1,18 Mi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502920" y="2651760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7157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artigos publicados em 2014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310128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435 mil em 1994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(crescimento de 1,85× em 10 anos)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1143000"/>
            <a:ext cx="2743200" cy="3703320"/>
          </a:xfrm>
          <a:prstGeom prst="rect">
            <a:avLst/>
          </a:prstGeom>
          <a:solidFill>
            <a:srgbClr val="162E4A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143000"/>
            <a:ext cx="2743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2344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5800" dirty="0"/>
          </a:p>
        </p:txBody>
      </p:sp>
      <p:sp>
        <p:nvSpPr>
          <p:cNvPr id="15" name="Shape 13"/>
          <p:cNvSpPr/>
          <p:nvPr/>
        </p:nvSpPr>
        <p:spPr>
          <a:xfrm>
            <a:off x="3456432" y="2651760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27157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investimento em pesquisa biomédica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9272" y="3310128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desperdiçado por ineficiências sistemâticas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81344" y="1143000"/>
            <a:ext cx="2743200" cy="3703320"/>
          </a:xfrm>
          <a:prstGeom prst="rect">
            <a:avLst/>
          </a:prstGeom>
          <a:solidFill>
            <a:srgbClr val="162E4A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81344" y="1143000"/>
            <a:ext cx="27432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2344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Crise de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Replicação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409944" y="2651760"/>
            <a:ext cx="22860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27157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excesso de falso-positivos na literatura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72784" y="3310128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do crescimento sem rigor e do viés de publicação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Ioannidis et al. 2015, PLOS Biology, p. 1–2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658368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Metaciência?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5074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3749040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704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50876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“Metaciiência é a disciplina que utiliza métodos científicos para estudar, avaliar e melhorar a própria prática de pesquisa — a ciência da ciência.”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5786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Ioannidis et al. (2015)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907792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9992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epistemologia à engenharia experimental: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3310128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 design, implementação e avaliação de novos modos de financiamento, publicação e produção científica. Não apenas diagnóstico de erros — mas reforma das instituições.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10515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1481328"/>
            <a:ext cx="71323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48132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92240" y="14996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Críticas estatísticas em revistas médicas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029968"/>
            <a:ext cx="713232" cy="347472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02996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20482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Congresso de Revisão por Pares — Chicago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2578608"/>
            <a:ext cx="71323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57860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259689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Emergência da “Crise de Replicação” global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3127248"/>
            <a:ext cx="71323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312724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31455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do SinBiose (CNPq) no Brasil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3675888"/>
            <a:ext cx="71323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367588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36941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Brasileira de Reprodutibilidade (RBR)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4224528"/>
            <a:ext cx="713232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422452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92240" y="42428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Metascience Alliance: 25+ financiadores globais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Ioannidis et al. 2015 | Roteiro de Palestra em Metaciiências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658368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5 Áreas Temáticas da Metaciiência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24128"/>
            <a:ext cx="1600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24128"/>
            <a:ext cx="160020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" y="111556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16916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5146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realizar a pesquisa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315468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estatística, síntese e ética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84248" y="1024128"/>
            <a:ext cx="1600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84248" y="1024128"/>
            <a:ext cx="160020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0028" y="111556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0028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29968" y="16916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75688" y="25146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comunicar a pesquisa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75688" y="315468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Padrões, registro, acesso aberto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12464" y="1024128"/>
            <a:ext cx="1600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12464" y="1024128"/>
            <a:ext cx="1600200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38244" y="111556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38244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58184" y="16916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BILIDADE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03904" y="25146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verificar a pesquisa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03904" y="315468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Compartilhamento, replicação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40680" y="1024128"/>
            <a:ext cx="1600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40680" y="1024128"/>
            <a:ext cx="1600200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66460" y="111556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66460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0" y="16916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32120" y="25146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julgar a pesquisa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32120" y="315468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por pares, financiamento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68896" y="1024128"/>
            <a:ext cx="1600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68896" y="1024128"/>
            <a:ext cx="1600200" cy="1371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94676" y="111556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94676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14616" y="16916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60336" y="25146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recompensar a pesquisa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60336" y="315468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Promoção, prêmios, métricas de impacto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Ioannidis et al. 2015 — Tabela 1 (Methods, Reporting, Reproducibility, Evaluation, Incentives)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658368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Campo Global — Ainda Fragmentado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5120640" cy="18288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47548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“Esforços independentes fragmentados resolvem problemas intrinsecamente similares de formas diferentes — sem enxergar o quadro completo.”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999232"/>
            <a:ext cx="2423160" cy="1783080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303580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851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 de metaciiência indexadas nos primeiros 4,5 meses de 2015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2999232"/>
            <a:ext cx="25603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0" y="2999232"/>
            <a:ext cx="2560320" cy="64008"/>
          </a:xfrm>
          <a:prstGeom prst="rect">
            <a:avLst/>
          </a:prstGeom>
          <a:solidFill>
            <a:srgbClr val="3A85C2"/>
          </a:solidFill>
          <a:ln w="12700">
            <a:solidFill>
              <a:srgbClr val="3A85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3127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5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em 4 registros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358444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artigos de pesquisa, conferências ou revisões — campo já diverso e global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1051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Iniciativas-Chave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60720" y="1463040"/>
            <a:ext cx="82296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14813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Cochrane Collaboration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61888" y="17099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2103120"/>
            <a:ext cx="82296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1888" y="21214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for Open Science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61888" y="235000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0" y="2743200"/>
            <a:ext cx="82296" cy="420624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61888" y="27614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/ Stanford (METRICS)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61888" y="29900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60720" y="3383280"/>
            <a:ext cx="82296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1888" y="34015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Network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61888" y="36301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60720" y="4023360"/>
            <a:ext cx="82296" cy="4206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61888" y="40416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Brasileira de Reprodutibilidade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61888" y="42702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pilares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Ioannidis et al. 2015, p. 3–4 | Figura 1 (mapa de publicações por país)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658368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1 — Meta-análise como Paradigma (Ecologia)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111556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de publicações em ecologia dobra a cada 9 anos — humanamente impossível acompanhar individualmente.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2199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" y="216712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Meta-análise: não apenas técnica estatística, mas síntese de evidências acionável para políticas ambientais.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" y="321868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Processo: tipificação de dados → modelagem de efeitos → avaliação de viés de publicação → meta-regressão.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1024128"/>
            <a:ext cx="3200400" cy="3794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11704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SinBiose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0" y="1645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Síntese em Biodiversidade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Serviços Ecossistêmicos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(CNPq, 2019)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52160" y="2487168"/>
            <a:ext cx="265176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5786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centro de síntese de natureza puramente tropical do mundo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3337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dados existentes para soluções em problemas socioambientais — sem novos experimentos de campo.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Roteiro de Palestra em Metaciiências, p. 3–4 | sinbiose.rc.unesp.br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658368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2 — Auditoria de Prêmios Científicos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2560320" cy="2377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0,5%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prêmios menciona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Aberta nos critérios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547872"/>
            <a:ext cx="2560320" cy="125272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39312"/>
            <a:ext cx="23774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4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222 prêmios “Best Paper”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8C4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27 áreas analisados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8C4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(Tam et al. 2022)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26974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4300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91840" y="18562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avaliação detalhados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23134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Favorece decisões por prestígio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051560"/>
            <a:ext cx="2697480" cy="64008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14300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5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172200" y="18562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revelam nomes dos avaliadores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3134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limitada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7180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06324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3291840" y="37764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permitem auto-indicação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42336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redes tradicionais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80760" y="29718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971800"/>
            <a:ext cx="26974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306324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48%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6172200" y="37764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vencedores: instituições dos EUA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2336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11% do Sul Global (2001–2022)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Tam et al. 2022 | Roteiro de Palestra em Metaciiências, p. 5–6  |  “Prêmios reforçam o Efeito Mateus”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658368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3 — A “Curiosidade Seletiva” da Ciência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3840480" cy="382219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1556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em 3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mamíferos tem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h-index = 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C4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Nenhum artigo sobre essas espécies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A8C4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jamais foi citado uma única vez.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Estudo: 7.521 espécies de mamíferos  |  Tam et al. 2022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34840" y="102412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determina o interesse científico?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463040"/>
            <a:ext cx="4343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463040"/>
            <a:ext cx="73152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508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 Corporal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26864" y="1764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Megafauna carismática preferida — correlação positiva com h-index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2231136"/>
            <a:ext cx="4343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2231136"/>
            <a:ext cx="73152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2276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Domesticação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26864" y="25328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H-index inflado em animais de uso humano (gado, camundongos)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34840" y="2999232"/>
            <a:ext cx="4343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2999232"/>
            <a:ext cx="73152" cy="685800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30449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do Habitat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26864" y="33009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geográfico: zonas temperadas (onde os cientístas estão) mais estudadas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34840" y="3767328"/>
            <a:ext cx="4343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3767328"/>
            <a:ext cx="7315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3813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 Ameaça (IUCN)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26864" y="4069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Espécies icônicas E comuns estudadas; raridades criticamente ameaçadas, negligenciadas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Tam et al. 2022 | Roteiro de Palestra em Metaciiências, p. 7–8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658368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4 — A “Regra de Ouro” dos Financiadores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“Quem tem o ouro faz as regras” — financiadores têm o poder único de acelerar a adoção de práticas de Ciência Aberta.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0"/>
            <a:ext cx="73152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74520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Aberto (OA)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1874520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Exigência de publicação em periódicos de livre acesso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66560" y="187452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Crescente (desafios de APC)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04872"/>
            <a:ext cx="8412480" cy="521208"/>
          </a:xfrm>
          <a:prstGeom prst="rect">
            <a:avLst/>
          </a:prstGeom>
          <a:solidFill>
            <a:srgbClr val="F0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04872"/>
            <a:ext cx="73152" cy="521208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50592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de Dados (RDM)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450592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Obrigatoriedade de depósito em repositórios públicos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0" y="2450592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emergente no G7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80944"/>
            <a:ext cx="84124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80944"/>
            <a:ext cx="73152" cy="521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026664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de Código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3026664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no software e código analítico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3026664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frequência de mandatos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557016"/>
            <a:ext cx="8412480" cy="521208"/>
          </a:xfrm>
          <a:prstGeom prst="rect">
            <a:avLst/>
          </a:prstGeom>
          <a:solidFill>
            <a:srgbClr val="F0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557016"/>
            <a:ext cx="73152" cy="5212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02736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de Publicação Secundária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3602736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para republicar em repositórios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0" y="3602736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Dependente de legislação nacional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133088"/>
            <a:ext cx="84124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133088"/>
            <a:ext cx="73152" cy="5212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178808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Compliance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29000" y="4178808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 de sanção para o não cumprimento das regras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4178808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design na maioria das agências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17556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 |  Descrição  |  Status de implementação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Roteiro de Palestra em Metaciiências, p. 8–9 | SORTEE Database (100+ agências globais)  |  “Política sem infraestrutura não muda comportamento.”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658368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Brasil no Centro — Rede Brasileira de Reprodutibilidade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5074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07492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Brasileira de Reprodutibilidade (RBR)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270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Fundada em 2022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182880" cy="1828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562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em métodos robustos de pesquisa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267712"/>
            <a:ext cx="182880" cy="1828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219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colaborativos de metaciiência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33472"/>
            <a:ext cx="182880" cy="1828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5877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Ativismo junto a instituições e órgãos governamentais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38728"/>
            <a:ext cx="5074920" cy="12344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30168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“Reprodutibilidade não é problema isolado — é uma questão sistêmica que exige transformações em múltiplas instâncias.”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23560" y="1051560"/>
            <a:ext cx="3154680" cy="3721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15000" y="11887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Diferencial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Brasileiro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852160" y="2029968"/>
            <a:ext cx="265176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79008" y="2176272"/>
            <a:ext cx="118872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98464" y="2130552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biodiversidade tropical do mundo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79008" y="2770632"/>
            <a:ext cx="118872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98464" y="2724912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Amazônia, Cerrado, Pantanal, Mata Atlântica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79008" y="3364992"/>
            <a:ext cx="118872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98464" y="3319272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estratégica para liderar síntese de evidências globais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79008" y="3959352"/>
            <a:ext cx="118872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98464" y="3913632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SinBiose como modelo exportável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Roteiro de Palestra em Metaciiências, p. 2 | reprodutibilidade.org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658368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Mapeamento do Ecossistema via FAPs e CONFAP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“Mapeamento da Ciência Brasileira” usa metaciiência para visualizar a produção nacional (Web of Science 2015–2020).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1752" y="1572768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1752" y="1572768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" y="169164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3192" y="23317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Bibliométrico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2971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da WoS (2015–2020)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" y="38862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áreas de excelência e liderança nacional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572768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572768"/>
            <a:ext cx="2011680" cy="64008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691640"/>
            <a:ext cx="548640" cy="548640"/>
          </a:xfrm>
          <a:prstGeom prst="ellipse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60320" y="23317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2971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parcerias inter-institucionais e internacionais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38862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Fortalecer internacionalização da ciência brasileira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36008" y="1572768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36008" y="1572768"/>
            <a:ext cx="20116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67528" y="169164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752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27448" y="23317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Ativos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27448" y="2971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infraestrutura de IoT e sensores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27448" y="38862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pesquisa acadêmica à inovação industrial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3136" y="1572768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03136" y="1572768"/>
            <a:ext cx="20116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34656" y="169164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3465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94576" y="23317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Políticas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94576" y="2971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eficácia das chamadas das FAPs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94576" y="38862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 alocação de recursos de custeio e capital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Roteiro de Palestra em Metaciiências, p. 10–11 | CONFAP/OCTI | Web of Science 2015–2020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A1F38"/>
          </a:solidFill>
          <a:ln w="12700">
            <a:solidFill>
              <a:srgbClr val="0A1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82880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Caminhos para uma Ciência Mais Íntegra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estratégicas para o ecossistema científico brasileiro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651760" cy="1627632"/>
          </a:xfrm>
          <a:prstGeom prst="rect">
            <a:avLst/>
          </a:prstGeom>
          <a:solidFill>
            <a:srgbClr val="162E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6187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 dos Prêmios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explícitos de rigor e transparência; valorizar Ciência Aberta nos prêmios de melhor artigo.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170432"/>
            <a:ext cx="2651760" cy="1627632"/>
          </a:xfrm>
          <a:prstGeom prst="rect">
            <a:avLst/>
          </a:prstGeom>
          <a:solidFill>
            <a:srgbClr val="162E4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170432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26187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67328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 à Diversidade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691640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auto-indicação e proativamente convidar grupos sub-representados e regiões periféricas.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1170432"/>
            <a:ext cx="2651760" cy="1627632"/>
          </a:xfrm>
          <a:prstGeom prst="rect">
            <a:avLst/>
          </a:prstGeom>
          <a:solidFill>
            <a:srgbClr val="162E4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170432"/>
            <a:ext cx="26517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261872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01968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das FAPs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1691640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Mandatos de compartilhamento de dados acompanhados por infraestrutura de suporte (RDM).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907792"/>
            <a:ext cx="4114800" cy="1627632"/>
          </a:xfrm>
          <a:prstGeom prst="rect">
            <a:avLst/>
          </a:prstGeom>
          <a:solidFill>
            <a:srgbClr val="162E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907792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99923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688" y="29992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de Síntese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429000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o modelo SinBiose: Brasil como líder em evidências de biomas tropicais para o mundo.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90872" y="2907792"/>
            <a:ext cx="4114800" cy="1627632"/>
          </a:xfrm>
          <a:prstGeom prst="rect">
            <a:avLst/>
          </a:prstGeom>
          <a:solidFill>
            <a:srgbClr val="162E4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90872" y="2907792"/>
            <a:ext cx="41148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28032" y="2999232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3520" y="29992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CONFAP Integrado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3429000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onde a ciência está estagnada por vieses taxonômicos e geográficos; direcionar fomento para lacunas.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Roteiro de Palestra em Metaciiências, p. 11–12 | Tam et al. 2022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você pode fazer agora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2670048" cy="2999232"/>
          </a:xfrm>
          <a:prstGeom prst="rect">
            <a:avLst/>
          </a:prstGeom>
          <a:solidFill>
            <a:srgbClr val="162E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32688"/>
            <a:ext cx="267004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75488" y="1691640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Pré-registre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sua pesquisa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hipóteses e métodos antes da coleta de dados. Use Open Science Framework (osf.io) — gratuito e aberto.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932688"/>
            <a:ext cx="2670048" cy="2999232"/>
          </a:xfrm>
          <a:prstGeom prst="rect">
            <a:avLst/>
          </a:prstGeom>
          <a:solidFill>
            <a:srgbClr val="162E4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932688"/>
            <a:ext cx="267004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0584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55848" y="1691640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Exija critérios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explícitos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423160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comitês de seleção de prêmios, bolsas ou avaliações: questione a ausência de critérios objetivos e valorize rigor.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32688"/>
            <a:ext cx="2670048" cy="2999232"/>
          </a:xfrm>
          <a:prstGeom prst="rect">
            <a:avLst/>
          </a:prstGeom>
          <a:solidFill>
            <a:srgbClr val="162E4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932688"/>
            <a:ext cx="2670048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00584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236208" y="1691640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Conecte-se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RBR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2423160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Brasileira de Reprodutibilidade: treinamentos, projetos colaborativos e advocacy institucional. reprodutibilidade.org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059936"/>
            <a:ext cx="8412480" cy="749808"/>
          </a:xfrm>
          <a:prstGeom prst="rect">
            <a:avLst/>
          </a:prstGeom>
          <a:solidFill>
            <a:srgbClr val="0A1F38"/>
          </a:solidFill>
          <a:ln w="12700">
            <a:solidFill>
              <a:srgbClr val="0A1F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05656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“Ciência que não se examina não pode se corrigir.”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esantos2@ualberta.ca  |  Rede Brasileira de Reprodutibilidade  |  reprodutibilidade.org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Metaciencia: A Ciencia que Estuda a Ciencia</dc:title>
  <dc:subject>PptxGenJS Presentation</dc:subject>
  <dc:creator>Eduardo Santos</dc:creator>
  <cp:lastModifiedBy>Eduardo Santos</cp:lastModifiedBy>
  <cp:revision>1</cp:revision>
  <dcterms:created xsi:type="dcterms:W3CDTF">2026-04-09T22:45:29Z</dcterms:created>
  <dcterms:modified xsi:type="dcterms:W3CDTF">2026-04-09T22:45:29Z</dcterms:modified>
</cp:coreProperties>
</file>